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7315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Georgia"/>
              </a:defRPr>
            </a:pPr>
            <a:r>
              <a:t>Plant Operations Brain</a:t>
            </a:r>
          </a:p>
          <a:p>
            <a:pPr>
              <a:spcBef>
                <a:spcPts val="1200"/>
              </a:spcBef>
              <a:defRPr sz="2000">
                <a:solidFill>
                  <a:srgbClr val="D97757"/>
                </a:solidFill>
                <a:latin typeface="Arial"/>
              </a:defRPr>
            </a:pPr>
            <a:r>
              <a:t>Grounded Industrial Knowledge Intelligence via Hybrid GraphRAG &amp; Honest Abstention</a:t>
            </a:r>
          </a:p>
          <a:p>
            <a:pPr>
              <a:spcBef>
                <a:spcPts val="1600"/>
              </a:spcBef>
              <a:defRPr sz="1400">
                <a:solidFill>
                  <a:srgbClr val="EEEEEE"/>
                </a:solidFill>
                <a:latin typeface="Arial"/>
              </a:defRPr>
            </a:pPr>
            <a:r>
              <a:t>ET AI Hackathon 2026 — Problem Statement #8</a:t>
            </a:r>
          </a:p>
          <a:p>
            <a:pPr>
              <a:spcBef>
                <a:spcPts val="1400"/>
              </a:spcBef>
              <a:defRPr sz="1400" b="1">
                <a:solidFill>
                  <a:srgbClr val="059669"/>
                </a:solidFill>
              </a:defRPr>
            </a:pPr>
            <a:r>
              <a:t>🚀 Live Application: https://plant-operation-brain-amduv45vm9kibjyjwkwkmh.streamlit.app</a:t>
            </a:r>
          </a:p>
        </p:txBody>
      </p:sp>
      <p:pic>
        <p:nvPicPr>
          <p:cNvPr id="5" name="Picture 4" descr="fa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64592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57"/>
                </a:solidFill>
                <a:latin typeface="Arial"/>
              </a:defRPr>
            </a:pPr>
            <a:r>
              <a:t>PLANT OPERATIONS BRAIN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1E1D"/>
                </a:solidFill>
                <a:latin typeface="Arial"/>
              </a:defRPr>
            </a:pPr>
            <a:r>
              <a:t>The Problem: Severe Knowledge Fragmentation in Industrial Plants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0EEE6"/>
          </a:solidFill>
          <a:ln>
            <a:solidFill>
              <a:srgbClr val="D6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97757"/>
                </a:solidFill>
              </a:defRPr>
            </a:pPr>
            <a:r>
              <a:t>35% TIME LOST</a:t>
            </a:r>
          </a:p>
          <a:p>
            <a:pPr>
              <a:spcBef>
                <a:spcPts val="1000"/>
              </a:spcBef>
              <a:defRPr sz="1400">
                <a:solidFill>
                  <a:srgbClr val="1F1E1D"/>
                </a:solidFill>
              </a:defRPr>
            </a:pPr>
            <a:r>
              <a:t>Engineers waste a third of every shift searching through scattered manuals &amp; SOPs.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0EEE6"/>
          </a:solidFill>
          <a:ln>
            <a:solidFill>
              <a:srgbClr val="D6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7–12 SILOS</a:t>
            </a:r>
          </a:p>
          <a:p>
            <a:pPr>
              <a:spcBef>
                <a:spcPts val="1000"/>
              </a:spcBef>
              <a:defRPr sz="1400">
                <a:solidFill>
                  <a:srgbClr val="1F1E1D"/>
                </a:solidFill>
              </a:defRPr>
            </a:pPr>
            <a:r>
              <a:t>Plant operations run across 7 to 12 disconnected software &amp; document repositories.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0EEE6"/>
          </a:solidFill>
          <a:ln>
            <a:solidFill>
              <a:srgbClr val="D6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F4448"/>
                </a:solidFill>
              </a:defRPr>
            </a:pPr>
            <a:r>
              <a:t>18–22% DOWNTIME</a:t>
            </a:r>
          </a:p>
          <a:p>
            <a:pPr>
              <a:spcBef>
                <a:spcPts val="1000"/>
              </a:spcBef>
              <a:defRPr sz="1400">
                <a:solidFill>
                  <a:srgbClr val="1F1E1D"/>
                </a:solidFill>
              </a:defRPr>
            </a:pPr>
            <a:r>
              <a:t>Unplanned plant downtime events caused directly by documentation fragmentation.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0EEE6"/>
          </a:solidFill>
          <a:ln>
            <a:solidFill>
              <a:srgbClr val="D6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59669"/>
                </a:solidFill>
              </a:defRPr>
            </a:pPr>
            <a:r>
              <a:t>25% RETIRING</a:t>
            </a:r>
          </a:p>
          <a:p>
            <a:pPr>
              <a:spcBef>
                <a:spcPts val="1000"/>
              </a:spcBef>
              <a:defRPr sz="1400">
                <a:solidFill>
                  <a:srgbClr val="1F1E1D"/>
                </a:solidFill>
              </a:defRPr>
            </a:pPr>
            <a:r>
              <a:t>Senior engineers retiring this decade, taking unwritten tribal knowledge with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solidFill>
            <a:srgbClr val="1F1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💡 Thesis: Knowledge fragmentation is not a filing problem — it is a safety, quality &amp; downtime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57"/>
                </a:solidFill>
                <a:latin typeface="Arial"/>
              </a:defRPr>
            </a:pPr>
            <a:r>
              <a:t>PLANT OPERATIONS BRAIN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1E1D"/>
                </a:solidFill>
                <a:latin typeface="Arial"/>
              </a:defRPr>
            </a:pPr>
            <a:r>
              <a:t>Enterprise Gaps vs. Our Unified Intelligence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FFF1F2"/>
          </a:solidFill>
          <a:ln>
            <a:solidFill>
              <a:srgbClr val="EF4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8"/>
                </a:solidFill>
              </a:defRPr>
            </a:pPr>
            <a:r>
              <a:t>❌ Enterprise Incumbents (Cognite, Siemens)</a:t>
            </a:r>
          </a:p>
          <a:p>
            <a:pPr>
              <a:spcBef>
                <a:spcPts val="800"/>
              </a:spcBef>
              <a:defRPr sz="1300">
                <a:solidFill>
                  <a:srgbClr val="1F1E1D"/>
                </a:solidFill>
              </a:defRPr>
            </a:pPr>
            <a:r>
              <a:t>• Multi-year, multi-crore deployments for Fortune-500 plants.</a:t>
            </a:r>
          </a:p>
          <a:p>
            <a:pPr>
              <a:spcBef>
                <a:spcPts val="800"/>
              </a:spcBef>
              <a:defRPr sz="1300">
                <a:solidFill>
                  <a:srgbClr val="1F1E1D"/>
                </a:solidFill>
              </a:defRPr>
            </a:pPr>
            <a:r>
              <a:t>• Standard vector search forces plausible guesses (hallucinations) on missing SOP data.</a:t>
            </a:r>
          </a:p>
          <a:p>
            <a:pPr>
              <a:spcBef>
                <a:spcPts val="800"/>
              </a:spcBef>
              <a:defRPr sz="1300">
                <a:solidFill>
                  <a:srgbClr val="1F1E1D"/>
                </a:solidFill>
              </a:defRPr>
            </a:pPr>
            <a:r>
              <a:t>• No compliance alignment with Indian standards (OISD, Factory Act, PESO, IBR).</a:t>
            </a:r>
          </a:p>
          <a:p>
            <a:pPr>
              <a:spcBef>
                <a:spcPts val="800"/>
              </a:spcBef>
              <a:defRPr sz="1300">
                <a:solidFill>
                  <a:srgbClr val="1F1E1D"/>
                </a:solidFill>
              </a:defRPr>
            </a:pPr>
            <a:r>
              <a:t>• Ignores undocumented tribal knowledge of retiring engineers.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0FDF4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t>✅ Plant Operations Brain (Ours)</a:t>
            </a:r>
          </a:p>
          <a:p>
            <a:pPr>
              <a:spcBef>
                <a:spcPts val="800"/>
              </a:spcBef>
              <a:defRPr sz="1300">
                <a:solidFill>
                  <a:srgbClr val="1F1E1D"/>
                </a:solidFill>
              </a:defRPr>
            </a:pPr>
            <a:r>
              <a:t>✔ 100% Honest Abstention — refuses to guess on ungrounded safety queries.</a:t>
            </a:r>
          </a:p>
          <a:p>
            <a:pPr>
              <a:spcBef>
                <a:spcPts val="800"/>
              </a:spcBef>
              <a:defRPr sz="1300">
                <a:solidFill>
                  <a:srgbClr val="1F1E1D"/>
                </a:solidFill>
              </a:defRPr>
            </a:pPr>
            <a:r>
              <a:t>✔ Hybrid GraphRAG — vector embeddings + Knowledge Graph traversal.</a:t>
            </a:r>
          </a:p>
          <a:p>
            <a:pPr>
              <a:spcBef>
                <a:spcPts val="800"/>
              </a:spcBef>
              <a:defRPr sz="1300">
                <a:solidFill>
                  <a:srgbClr val="1F1E1D"/>
                </a:solidFill>
              </a:defRPr>
            </a:pPr>
            <a:r>
              <a:t>✔ Tribal Knowledge Extractor — captures unwritten expert knowledge via voice interviews.</a:t>
            </a:r>
          </a:p>
          <a:p>
            <a:pPr>
              <a:spcBef>
                <a:spcPts val="800"/>
              </a:spcBef>
              <a:defRPr sz="1300">
                <a:solidFill>
                  <a:srgbClr val="1F1E1D"/>
                </a:solidFill>
              </a:defRPr>
            </a:pPr>
            <a:r>
              <a:t>✔ Closed-Loop Conflict Resolution — auto-drafts &amp; publishes corrected SOPs.</a:t>
            </a:r>
          </a:p>
          <a:p>
            <a:pPr>
              <a:spcBef>
                <a:spcPts val="800"/>
              </a:spcBef>
              <a:defRPr sz="1300">
                <a:solidFill>
                  <a:srgbClr val="1F1E1D"/>
                </a:solidFill>
              </a:defRPr>
            </a:pPr>
            <a:r>
              <a:t>✔ Field-First Multimodal — photo nameplate OCR, voice TTS, 6+ Indian languages.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57"/>
                </a:solidFill>
                <a:latin typeface="Arial"/>
              </a:defRPr>
            </a:pPr>
            <a:r>
              <a:t>PLANT OPERATIONS BRAIN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1E1D"/>
                </a:solidFill>
                <a:latin typeface="Arial"/>
              </a:defRPr>
            </a:pPr>
            <a:r>
              <a:t>End-to-End System Architecture: 5 Decoupled Layers</a:t>
            </a:r>
          </a:p>
        </p:txBody>
      </p:sp>
      <p:pic>
        <p:nvPicPr>
          <p:cNvPr id="4" name="Picture 3" descr="arch_overview_17847064845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36746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 b="1">
                <a:solidFill>
                  <a:srgbClr val="D97757"/>
                </a:solidFill>
              </a:defRPr>
            </a:pPr>
            <a:r>
              <a:t>1. Ingestion Layer</a:t>
            </a:r>
          </a:p>
          <a:p>
            <a:pPr>
              <a:defRPr sz="1200">
                <a:solidFill>
                  <a:srgbClr val="1F1E1D"/>
                </a:solidFill>
              </a:defRPr>
            </a:pPr>
            <a:r>
              <a:t>PDF, Word, Excel, CSV, scanned OCR processing.</a:t>
            </a:r>
          </a:p>
          <a:p>
            <a:pPr>
              <a:spcBef>
                <a:spcPts val="600"/>
              </a:spcBef>
              <a:defRPr sz="1400" b="1">
                <a:solidFill>
                  <a:srgbClr val="D97757"/>
                </a:solidFill>
              </a:defRPr>
            </a:pPr>
            <a:r>
              <a:t>2. Dual-Indexing</a:t>
            </a:r>
          </a:p>
          <a:p>
            <a:pPr>
              <a:defRPr sz="1200">
                <a:solidFill>
                  <a:srgbClr val="1F1E1D"/>
                </a:solidFill>
              </a:defRPr>
            </a:pPr>
            <a:r>
              <a:t>Local GPU sentence-transformers + NetworkX/Neo4j Graph.</a:t>
            </a:r>
          </a:p>
          <a:p>
            <a:pPr>
              <a:spcBef>
                <a:spcPts val="600"/>
              </a:spcBef>
              <a:defRPr sz="1400" b="1">
                <a:solidFill>
                  <a:srgbClr val="D97757"/>
                </a:solidFill>
              </a:defRPr>
            </a:pPr>
            <a:r>
              <a:t>3. Hybrid GraphRAG</a:t>
            </a:r>
          </a:p>
          <a:p>
            <a:pPr>
              <a:defRPr sz="1200">
                <a:solidFill>
                  <a:srgbClr val="1F1E1D"/>
                </a:solidFill>
              </a:defRPr>
            </a:pPr>
            <a:r>
              <a:t>Cosine vector search + 2-hop graph neighbor expansion.</a:t>
            </a:r>
          </a:p>
          <a:p>
            <a:pPr>
              <a:spcBef>
                <a:spcPts val="600"/>
              </a:spcBef>
              <a:defRPr sz="1400" b="1">
                <a:solidFill>
                  <a:srgbClr val="D97757"/>
                </a:solidFill>
              </a:defRPr>
            </a:pPr>
            <a:r>
              <a:t>4. Re-Ranking &amp; Gate</a:t>
            </a:r>
          </a:p>
          <a:p>
            <a:pPr>
              <a:defRPr sz="1200">
                <a:solidFill>
                  <a:srgbClr val="1F1E1D"/>
                </a:solidFill>
              </a:defRPr>
            </a:pPr>
            <a:r>
              <a:t>Cross-Encoder scoring with calibrated Abstention Gate.</a:t>
            </a:r>
          </a:p>
          <a:p>
            <a:pPr>
              <a:spcBef>
                <a:spcPts val="600"/>
              </a:spcBef>
              <a:defRPr sz="1400" b="1">
                <a:solidFill>
                  <a:srgbClr val="D97757"/>
                </a:solidFill>
              </a:defRPr>
            </a:pPr>
            <a:r>
              <a:t>5. Agent Orchestrator</a:t>
            </a:r>
          </a:p>
          <a:p>
            <a:pPr>
              <a:defRPr sz="1200">
                <a:solidFill>
                  <a:srgbClr val="1F1E1D"/>
                </a:solidFill>
              </a:defRPr>
            </a:pPr>
            <a:r>
              <a:t>Specialist dispatch: RCA, Safety, Compliance, Conflict.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57"/>
                </a:solidFill>
                <a:latin typeface="Arial"/>
              </a:defRPr>
            </a:pPr>
            <a:r>
              <a:t>PLANT OPERATIONS BRAIN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1E1D"/>
                </a:solidFill>
                <a:latin typeface="Arial"/>
              </a:defRPr>
            </a:pPr>
            <a:r>
              <a:t>Hybrid GraphRAG &amp; The Honest Abstention Mechanism</a:t>
            </a:r>
          </a:p>
        </p:txBody>
      </p:sp>
      <p:pic>
        <p:nvPicPr>
          <p:cNvPr id="4" name="Picture 3" descr="rag_comparison_17847065052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3470467"/>
          </a:xfrm>
          <a:prstGeom prst="rect">
            <a:avLst/>
          </a:prstGeom>
        </p:spPr>
      </p:pic>
      <p:pic>
        <p:nvPicPr>
          <p:cNvPr id="5" name="Picture 4" descr="graphrag_flow_178470649443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45920"/>
            <a:ext cx="4297680" cy="23987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1E1D"/>
                </a:solidFill>
              </a:defRPr>
            </a:pPr>
            <a:r>
              <a:t>• Vector search handles semantic similarity, while Knowledge Graph traversal connects Equipment ↔ Procedures ↔ Regulations.</a:t>
            </a:r>
          </a:p>
          <a:p>
            <a:pPr>
              <a:defRPr sz="1300" b="1">
                <a:solidFill>
                  <a:srgbClr val="D97757"/>
                </a:solidFill>
              </a:defRPr>
            </a:pPr>
            <a:r>
              <a:t>• Calibrated Relevance Gate (τ = 0.35): If max chunk score &lt; τ, system abstains completely instead of hallucinating.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57"/>
                </a:solidFill>
                <a:latin typeface="Arial"/>
              </a:defRPr>
            </a:pPr>
            <a:r>
              <a:t>PLANT OPERATIONS BRAIN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1E1D"/>
                </a:solidFill>
                <a:latin typeface="Arial"/>
              </a:defRPr>
            </a:pPr>
            <a:r>
              <a:t>Knowledge Graph &amp; Tribal Knowledge Extraction</a:t>
            </a:r>
          </a:p>
        </p:txBody>
      </p:sp>
      <p:pic>
        <p:nvPicPr>
          <p:cNvPr id="4" name="Picture 3" descr="kg_network_17847065294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4378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57"/>
                </a:solidFill>
              </a:defRPr>
            </a:pPr>
            <a:r>
              <a:t>🎙️ Capturing What Was Never Written Down</a:t>
            </a:r>
          </a:p>
          <a:p>
            <a:pPr>
              <a:spcBef>
                <a:spcPts val="800"/>
              </a:spcBef>
              <a:defRPr sz="1400" b="1">
                <a:solidFill>
                  <a:srgbClr val="1F1E1D"/>
                </a:solidFill>
              </a:defRPr>
            </a:pPr>
            <a:r>
              <a:t>• Asset Exposure Analysis</a:t>
            </a:r>
          </a:p>
          <a:p>
            <a:pPr>
              <a:defRPr sz="1200">
                <a:solidFill>
                  <a:srgbClr val="6B6A66"/>
                </a:solidFill>
              </a:defRPr>
            </a:pPr>
            <a:r>
              <a:t>Scans graph for equipment nodes with zero linked SOPs.</a:t>
            </a:r>
          </a:p>
          <a:p>
            <a:pPr>
              <a:spcBef>
                <a:spcPts val="800"/>
              </a:spcBef>
              <a:defRPr sz="1400" b="1">
                <a:solidFill>
                  <a:srgbClr val="1F1E1D"/>
                </a:solidFill>
              </a:defRPr>
            </a:pPr>
            <a:r>
              <a:t>• Guided Voice Interviews</a:t>
            </a:r>
          </a:p>
          <a:p>
            <a:pPr>
              <a:defRPr sz="1200">
                <a:solidFill>
                  <a:srgbClr val="6B6A66"/>
                </a:solidFill>
              </a:defRPr>
            </a:pPr>
            <a:r>
              <a:t>Prompts senior experts with targeted questions on startup quirks &amp; failure symptoms.</a:t>
            </a:r>
          </a:p>
          <a:p>
            <a:pPr>
              <a:spcBef>
                <a:spcPts val="800"/>
              </a:spcBef>
              <a:defRPr sz="1400" b="1">
                <a:solidFill>
                  <a:srgbClr val="1F1E1D"/>
                </a:solidFill>
              </a:defRPr>
            </a:pPr>
            <a:r>
              <a:t>• Real-time Ingestion</a:t>
            </a:r>
          </a:p>
          <a:p>
            <a:pPr>
              <a:defRPr sz="1200">
                <a:solidFill>
                  <a:srgbClr val="6B6A66"/>
                </a:solidFill>
              </a:defRPr>
            </a:pPr>
            <a:r>
              <a:t>Converts spoken responses into verified graph entities &amp; SOP documentation.</a:t>
            </a:r>
          </a:p>
          <a:p>
            <a:pPr>
              <a:spcBef>
                <a:spcPts val="800"/>
              </a:spcBef>
              <a:defRPr sz="1400" b="1">
                <a:solidFill>
                  <a:srgbClr val="1F1E1D"/>
                </a:solidFill>
              </a:defRPr>
            </a:pPr>
            <a:r>
              <a:t>• Closed-Loop SOP Fix</a:t>
            </a:r>
          </a:p>
          <a:p>
            <a:pPr>
              <a:defRPr sz="1200">
                <a:solidFill>
                  <a:srgbClr val="6B6A66"/>
                </a:solidFill>
              </a:defRPr>
            </a:pPr>
            <a:r>
              <a:t>Auto-detects document contradictions and drafts updated, approved procedures.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57"/>
                </a:solidFill>
                <a:latin typeface="Arial"/>
              </a:defRPr>
            </a:pPr>
            <a:r>
              <a:t>PLANT OPERATIONS BRAIN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1E1D"/>
                </a:solidFill>
                <a:latin typeface="Arial"/>
              </a:defRPr>
            </a:pPr>
            <a:r>
              <a:t>Empirical Proof: Beating Plain RAG Baseline Across All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70262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Plain Vector RAG Baseline</a:t>
                      </a:r>
                    </a:p>
                  </a:txBody>
                  <a:tcPr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Plant Operations Brain (Ours)</a:t>
                      </a:r>
                    </a:p>
                  </a:txBody>
                  <a:tcPr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Advantage / Delta</a:t>
                      </a:r>
                    </a:p>
                  </a:txBody>
                  <a:tcPr>
                    <a:solidFill>
                      <a:srgbClr val="1F1E1D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E1D"/>
                          </a:solidFill>
                        </a:defRPr>
                      </a:pPr>
                      <a:r>
                        <a:t>Retrieval Recall@5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E1D"/>
                          </a:solidFill>
                        </a:defRPr>
                      </a:pPr>
                      <a:r>
                        <a:t>80.0%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E1D"/>
                          </a:solidFill>
                        </a:defRPr>
                      </a:pPr>
                      <a:r>
                        <a:t>+20.0% Improvement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E1D"/>
                          </a:solidFill>
                        </a:defRPr>
                      </a:pPr>
                      <a:r>
                        <a:t>Context Richness (Docs/Query)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E1D"/>
                          </a:solidFill>
                        </a:defRPr>
                      </a:pPr>
                      <a:r>
                        <a:t>1.8 docs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3.6 docs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E1D"/>
                          </a:solidFill>
                        </a:defRPr>
                      </a:pPr>
                      <a:r>
                        <a:t>2x Multi-hop 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E1D"/>
                          </a:solidFill>
                        </a:defRPr>
                      </a:pPr>
                      <a:r>
                        <a:t>Abstention Accuracy (Off-topic)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E1D"/>
                          </a:solidFill>
                        </a:defRPr>
                      </a:pPr>
                      <a:r>
                        <a:t>0.0% (Hallucinated)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100.0% (Honest Refusal)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E1D"/>
                          </a:solidFill>
                        </a:defRPr>
                      </a:pPr>
                      <a:r>
                        <a:t>+100% Safety Precision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E1D"/>
                          </a:solidFill>
                        </a:defRPr>
                      </a:pPr>
                      <a:r>
                        <a:t>Entity Extraction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E1D"/>
                          </a:solidFill>
                        </a:defRPr>
                      </a:pPr>
                      <a:r>
                        <a:t>64.2%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E1D"/>
                          </a:solidFill>
                        </a:defRPr>
                      </a:pPr>
                      <a:r>
                        <a:t>+35.8% Entity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E1D"/>
                          </a:solidFill>
                        </a:defRPr>
                      </a:pPr>
                      <a:r>
                        <a:t>Graph Linkage Accuracy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E1D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E1D"/>
                          </a:solidFill>
                        </a:defRPr>
                      </a:pPr>
                      <a:r>
                        <a:t>Fully Verified Graph</a:t>
                      </a:r>
                    </a:p>
                  </a:txBody>
                  <a:tcPr>
                    <a:solidFill>
                      <a:srgbClr val="F0EEE6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E1D"/>
                          </a:solidFill>
                        </a:defRPr>
                      </a:pPr>
                      <a:r>
                        <a:t>Retrieval Latency (Local GPU)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E1D"/>
                          </a:solidFill>
                        </a:defRPr>
                      </a:pPr>
                      <a:r>
                        <a:t>12.4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6.2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E1D"/>
                          </a:solidFill>
                        </a:defRPr>
                      </a:pPr>
                      <a:r>
                        <a:t>2x Faster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303520"/>
            <a:ext cx="10698480" cy="91440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🏆 Verified on Reproducible Benchmark (python -m src.eval): 100% Recall, 100% Abstention, 6.2 ms Latency.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57"/>
                </a:solidFill>
                <a:latin typeface="Arial"/>
              </a:defRPr>
            </a:pPr>
            <a:r>
              <a:t>PLANT OPERATIONS BRAIN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1E1D"/>
                </a:solidFill>
                <a:latin typeface="Arial"/>
              </a:defRPr>
            </a:pPr>
            <a:r>
              <a:t>Built for Floor Technicians: Multimodal &amp; Multilingual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0EEE6"/>
          </a:solidFill>
          <a:ln>
            <a:solidFill>
              <a:srgbClr val="D6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57"/>
                </a:solidFill>
              </a:defRPr>
            </a:pPr>
            <a:r>
              <a:t>📷 Photo Nameplate OCR</a:t>
            </a:r>
          </a:p>
          <a:p>
            <a:pPr>
              <a:spcBef>
                <a:spcPts val="800"/>
              </a:spcBef>
              <a:defRPr sz="1300">
                <a:solidFill>
                  <a:srgbClr val="1F1E1D"/>
                </a:solidFill>
              </a:defRPr>
            </a:pPr>
            <a:r>
              <a:t>Technicians photograph equipment nameplates or pressure gauges to auto-identify IDs and run diagnostics.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0EEE6"/>
          </a:solidFill>
          <a:ln>
            <a:solidFill>
              <a:srgbClr val="D6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🎙️ Offline Speech TTS</a:t>
            </a:r>
          </a:p>
          <a:p>
            <a:pPr>
              <a:spcBef>
                <a:spcPts val="800"/>
              </a:spcBef>
              <a:defRPr sz="1300">
                <a:solidFill>
                  <a:srgbClr val="1F1E1D"/>
                </a:solidFill>
              </a:defRPr>
            </a:pPr>
            <a:r>
              <a:t>Voice-to-text input and offline audio readout for hands-free operations in noisy plant environments.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0EEE6"/>
          </a:solidFill>
          <a:ln>
            <a:solidFill>
              <a:srgbClr val="D6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t>🌐 6+ Indian Languages</a:t>
            </a:r>
          </a:p>
          <a:p>
            <a:pPr>
              <a:spcBef>
                <a:spcPts val="800"/>
              </a:spcBef>
              <a:defRPr sz="1300">
                <a:solidFill>
                  <a:srgbClr val="1F1E1D"/>
                </a:solidFill>
              </a:defRPr>
            </a:pPr>
            <a:r>
              <a:t>Instant dynamic UI and AI response translation in Hindi, Kannada, Tamil, Telugu, Marathi.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0EEE6"/>
          </a:solidFill>
          <a:ln>
            <a:solidFill>
              <a:srgbClr val="D6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1E1D"/>
                </a:solidFill>
              </a:defRPr>
            </a:pPr>
            <a:r>
              <a:t>🌙 Light / Dark Modes</a:t>
            </a:r>
          </a:p>
          <a:p>
            <a:pPr>
              <a:spcBef>
                <a:spcPts val="800"/>
              </a:spcBef>
              <a:defRPr sz="1300">
                <a:solidFill>
                  <a:srgbClr val="1F1E1D"/>
                </a:solidFill>
              </a:defRPr>
            </a:pPr>
            <a:r>
              <a:t>Claude-inspired warm ivory and dark charcoal palettes for high visibility indoors or outdoors.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57"/>
                </a:solidFill>
                <a:latin typeface="Arial"/>
              </a:defRPr>
            </a:pPr>
            <a:r>
              <a:t>PLANT OPERATIONS BRAIN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1E1D"/>
                </a:solidFill>
                <a:latin typeface="Arial"/>
              </a:defRPr>
            </a:pPr>
            <a:r>
              <a:t>Scalability, Data Privacy &amp; Business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0EEE6"/>
          </a:solidFill>
          <a:ln>
            <a:solidFill>
              <a:srgbClr val="D6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57"/>
                </a:solidFill>
              </a:defRPr>
            </a:pPr>
            <a:r>
              <a:t>🔒 On-Premise Air-Gapped</a:t>
            </a:r>
          </a:p>
          <a:p>
            <a:pPr>
              <a:spcBef>
                <a:spcPts val="1200"/>
              </a:spcBef>
              <a:defRPr sz="1300">
                <a:solidFill>
                  <a:srgbClr val="1F1E1D"/>
                </a:solidFill>
              </a:defRPr>
            </a:pPr>
            <a:r>
              <a:t>Runs locally inside a Docker container behind plant firewalls. Embeddings run on GPU — zero data leaves the plant.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F0EEE6"/>
          </a:solidFill>
          <a:ln>
            <a:solidFill>
              <a:srgbClr val="D6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t>⚡ Zero Retrieval Cost</a:t>
            </a:r>
          </a:p>
          <a:p>
            <a:pPr>
              <a:spcBef>
                <a:spcPts val="1200"/>
              </a:spcBef>
              <a:defRPr sz="1300">
                <a:solidFill>
                  <a:srgbClr val="1F1E1D"/>
                </a:solidFill>
              </a:defRPr>
            </a:pPr>
            <a:r>
              <a:t>Local sentence-transformers + NumPy distance matrix means retrieval cost ≈ ₹0 per query.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F0EEE6"/>
          </a:solidFill>
          <a:ln>
            <a:solidFill>
              <a:srgbClr val="D6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💼 Per-Site SaaS Model</a:t>
            </a:r>
          </a:p>
          <a:p>
            <a:pPr>
              <a:spcBef>
                <a:spcPts val="1200"/>
              </a:spcBef>
              <a:defRPr sz="1300">
                <a:solidFill>
                  <a:srgbClr val="1F1E1D"/>
                </a:solidFill>
              </a:defRPr>
            </a:pPr>
            <a:r>
              <a:t>Targeted at Indian mid-market chemical, power, EPC, and manufacturing plants at a fraction of enterprise cost.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D97757"/>
                </a:solidFill>
                <a:latin typeface="Georgia"/>
              </a:defRPr>
            </a:pPr>
            <a:r>
              <a:t>Plant Operations Brain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The Intelligence Layer Missing at Visakhapatnam — Deployed Live Today.</a:t>
            </a:r>
          </a:p>
          <a:p>
            <a:pPr>
              <a:spcBef>
                <a:spcPts val="1200"/>
              </a:spcBef>
              <a:defRPr sz="1500" b="0">
                <a:solidFill>
                  <a:srgbClr val="EEEEEE"/>
                </a:solidFill>
              </a:defRPr>
            </a:pPr>
            <a:r>
              <a:t>✔ Queryable, actionable, continuously updated across any device.</a:t>
            </a:r>
          </a:p>
          <a:p>
            <a:pPr>
              <a:spcBef>
                <a:spcPts val="1200"/>
              </a:spcBef>
              <a:defRPr sz="1500" b="0">
                <a:solidFill>
                  <a:srgbClr val="EEEEEE"/>
                </a:solidFill>
              </a:defRPr>
            </a:pPr>
            <a:r>
              <a:t>✔ 100% Recall, 100% Abstention Safety Precision, 6.2 ms Latency.</a:t>
            </a:r>
          </a:p>
          <a:p>
            <a:pPr>
              <a:spcBef>
                <a:spcPts val="1200"/>
              </a:spcBef>
              <a:defRPr sz="1500" b="1">
                <a:solidFill>
                  <a:srgbClr val="059669"/>
                </a:solidFill>
              </a:defRPr>
            </a:pPr>
            <a:r>
              <a:t>✔ 🌐 Live Deployed Application: https://plant-operation-brain-amduv45vm9kibjyjwkwkmh.streamlit.app</a:t>
            </a:r>
          </a:p>
          <a:p>
            <a:pPr>
              <a:spcBef>
                <a:spcPts val="2400"/>
              </a:spcBef>
              <a:defRPr sz="2200" b="1">
                <a:solidFill>
                  <a:srgbClr val="D97757"/>
                </a:solidFill>
              </a:defRPr>
            </a:pPr>
            <a:r>
              <a:t>Thank You!  ·  ET AI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